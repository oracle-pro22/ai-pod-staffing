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1" r:id="rId1"/>
  </p:sldMasterIdLst>
  <p:notesMasterIdLst>
    <p:notesMasterId r:id="rId3"/>
  </p:notesMasterIdLst>
  <p:handoutMasterIdLst>
    <p:handoutMasterId r:id="rId4"/>
  </p:handoutMasterIdLst>
  <p:sldIdLst>
    <p:sldId id="579" r:id="rId2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736" userDrawn="1">
          <p15:clr>
            <a:srgbClr val="A4A3A4"/>
          </p15:clr>
        </p15:guide>
        <p15:guide id="5" pos="240" userDrawn="1">
          <p15:clr>
            <a:srgbClr val="A4A3A4"/>
          </p15:clr>
        </p15:guide>
        <p15:guide id="6" orient="horz" pos="3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611A13-24FF-104C-EDCB-7660A2D61043}" name="Catherine Gasior" initials="CG" userId="Catherine Gasior" providerId="None"/>
  <p188:author id="{38DD2BF0-967E-16CC-D406-D0B2231E41D0}" name="Kate Wilhelm" initials="KW" userId="S::kate.wilhelm@oracle.com::cd0a13dc-ed1c-4dc6-a478-830ed2443db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  <p:cmAuthor id="2" name="Beth Boettcher Finke" initials="BBF" lastIdx="11" clrIdx="1">
    <p:extLst>
      <p:ext uri="{19B8F6BF-5375-455C-9EA6-DF929625EA0E}">
        <p15:presenceInfo xmlns:p15="http://schemas.microsoft.com/office/powerpoint/2012/main" userId="Beth Boettcher Finke" providerId="None"/>
      </p:ext>
    </p:extLst>
  </p:cmAuthor>
  <p:cmAuthor id="3" name="Kate Wilhelm" initials="KW" lastIdx="2" clrIdx="2">
    <p:extLst>
      <p:ext uri="{19B8F6BF-5375-455C-9EA6-DF929625EA0E}">
        <p15:presenceInfo xmlns:p15="http://schemas.microsoft.com/office/powerpoint/2012/main" userId="S::kate.wilhelm@oracle.com::cd0a13dc-ed1c-4dc6-a478-830ed2443d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394A"/>
    <a:srgbClr val="254659"/>
    <a:srgbClr val="F5EAE9"/>
    <a:srgbClr val="334344"/>
    <a:srgbClr val="435A5B"/>
    <a:srgbClr val="435A5A"/>
    <a:srgbClr val="ECEAE9"/>
    <a:srgbClr val="313B3A"/>
    <a:srgbClr val="EA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4" autoAdjust="0"/>
    <p:restoredTop sz="92806" autoAdjust="0"/>
  </p:normalViewPr>
  <p:slideViewPr>
    <p:cSldViewPr snapToGrid="0" showGuides="1">
      <p:cViewPr varScale="1">
        <p:scale>
          <a:sx n="69" d="100"/>
          <a:sy n="69" d="100"/>
        </p:scale>
        <p:origin x="308" y="32"/>
      </p:cViewPr>
      <p:guideLst>
        <p:guide orient="horz" pos="2736"/>
        <p:guide pos="240"/>
        <p:guide orient="horz" pos="3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126" d="100"/>
        <a:sy n="126" d="100"/>
      </p:scale>
      <p:origin x="0" y="-23196"/>
    </p:cViewPr>
  </p:sorterViewPr>
  <p:notesViewPr>
    <p:cSldViewPr snapToGrid="0" showGuides="1">
      <p:cViewPr varScale="1">
        <p:scale>
          <a:sx n="47" d="100"/>
          <a:sy n="47" d="100"/>
        </p:scale>
        <p:origin x="3144" y="66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10/8/2026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Temp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6147906-EC0C-20D1-A679-D1301AE4CCF5}"/>
              </a:ext>
            </a:extLst>
          </p:cNvPr>
          <p:cNvSpPr/>
          <p:nvPr userDrawn="1"/>
        </p:nvSpPr>
        <p:spPr>
          <a:xfrm>
            <a:off x="2941983" y="85929"/>
            <a:ext cx="925001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C1821E4-E487-C67A-3550-6713C29B19D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735" t="21642" r="-3111" b="-18772"/>
          <a:stretch/>
        </p:blipFill>
        <p:spPr>
          <a:xfrm rot="5400000">
            <a:off x="10590908" y="-6754"/>
            <a:ext cx="1594336" cy="1607848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9CDC39-C6DC-83BD-885D-B3C71F041A30}"/>
              </a:ext>
            </a:extLst>
          </p:cNvPr>
          <p:cNvSpPr/>
          <p:nvPr userDrawn="1"/>
        </p:nvSpPr>
        <p:spPr>
          <a:xfrm>
            <a:off x="220663" y="1523787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Technology Expertise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E030C-3755-B595-A30B-88FB595BA299}"/>
              </a:ext>
            </a:extLst>
          </p:cNvPr>
          <p:cNvSpPr/>
          <p:nvPr userDrawn="1"/>
        </p:nvSpPr>
        <p:spPr>
          <a:xfrm flipH="1">
            <a:off x="2914676" y="0"/>
            <a:ext cx="92773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CF7893-6A81-A569-4D99-A9CFAC3812DC}"/>
              </a:ext>
            </a:extLst>
          </p:cNvPr>
          <p:cNvSpPr/>
          <p:nvPr userDrawn="1"/>
        </p:nvSpPr>
        <p:spPr>
          <a:xfrm>
            <a:off x="3160809" y="253630"/>
            <a:ext cx="4236769" cy="24306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Background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473A56-E3FE-CD02-C605-D637BE064C05}"/>
              </a:ext>
            </a:extLst>
          </p:cNvPr>
          <p:cNvSpPr/>
          <p:nvPr userDrawn="1"/>
        </p:nvSpPr>
        <p:spPr>
          <a:xfrm>
            <a:off x="7493096" y="227604"/>
            <a:ext cx="4507605" cy="2444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Relevant Experience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503DE-230F-124B-ADF4-E51E4EA68B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2281" y="604704"/>
            <a:ext cx="4093069" cy="2039985"/>
          </a:xfrm>
          <a:prstGeom prst="rect">
            <a:avLst/>
          </a:prstGeom>
        </p:spPr>
        <p:txBody>
          <a:bodyPr lIns="0" tIns="45720" r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Background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765BD68-F59F-0746-94A8-41EEF81C27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5674" y="604704"/>
            <a:ext cx="4248105" cy="2039985"/>
          </a:xfrm>
          <a:prstGeom prst="rect">
            <a:avLst/>
          </a:prstGeom>
        </p:spPr>
        <p:txBody>
          <a:bodyPr lIns="0" tIns="45720" rIns="0"/>
          <a:lstStyle>
            <a:lvl1pPr marL="137160" indent="-137160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Led five Accounts Payable implementations in the last 12 months.</a:t>
            </a:r>
          </a:p>
          <a:p>
            <a:r>
              <a:rPr lang="en-US" dirty="0"/>
              <a:t>Served as work-stream lead for revenue management implementation.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91A0173-C01F-DB41-9928-656B95B6A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8752" y="765005"/>
            <a:ext cx="2157984" cy="384484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Georgia" panose="02040502050405020303" pitchFamily="18" charset="0"/>
                <a:cs typeface="Oracle Sans" panose="020B05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Consultant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F274465-3B64-4649-8FDC-9D8A8E9C5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752" y="1209854"/>
            <a:ext cx="2157984" cy="24306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i="1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Oracle Job 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AD38682-B967-5D41-849F-304815F81B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3979" y="3127872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Multi-Campus Higher Education University</a:t>
            </a:r>
          </a:p>
          <a:p>
            <a:r>
              <a:rPr lang="en-US" sz="900" dirty="0"/>
              <a:t>Served as ERP lead responsible for managing 25 person team over a 12 month implementation while working closely with a partner implementer.</a:t>
            </a:r>
          </a:p>
          <a:p>
            <a:r>
              <a:rPr lang="en-US" sz="900" dirty="0"/>
              <a:t>Drove client to consolidate business processes that resulted in a 52% reduction in period close procedures.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390423DB-5E0B-AA4E-A4B2-A1E0298F99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23292" y="3127871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Private University</a:t>
            </a:r>
          </a:p>
          <a:p>
            <a:r>
              <a:rPr lang="en-US" sz="900" dirty="0"/>
              <a:t>Streamlined the billing process to maximize efficiency and drive adoption of Oracle Best Practices in Receivables.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74300E0-7A8A-FEE2-84F4-95B24203A53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9447" y="1862097"/>
            <a:ext cx="2154283" cy="1892719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areas of expertise</a:t>
            </a:r>
          </a:p>
          <a:p>
            <a:pPr lvl="0"/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lvl="0"/>
            <a:endParaRPr lang="en-US" dirty="0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E965FDC-1A10-3E81-407C-1165321149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9447" y="4130440"/>
            <a:ext cx="2154283" cy="737318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lvl="0"/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005A1F-9902-0847-39F2-B0B73A3AF5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2282" y="3127872"/>
            <a:ext cx="2011680" cy="344520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Large Public University</a:t>
            </a:r>
          </a:p>
          <a:p>
            <a:r>
              <a:rPr lang="en-US" sz="900" dirty="0"/>
              <a:t>Served on the leadership team responsible for solutioning and delivering an 18 month implementation across multiple pillars (ERP Financials, ERP Supply Chain, and Core HR).</a:t>
            </a:r>
          </a:p>
          <a:p>
            <a:r>
              <a:rPr lang="en-US" sz="900" dirty="0"/>
              <a:t>Overhauled period close process so that GL periods closed eight times more quickly than before.</a:t>
            </a:r>
          </a:p>
          <a:p>
            <a:r>
              <a:rPr lang="en-US" sz="900" dirty="0"/>
              <a:t>Enabled automatic generation of period close allocations as part of streamlining period close procedures.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EDBEFC-11C7-3BDF-CDE0-85C6E3717A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0210390" y="0"/>
            <a:ext cx="1981610" cy="458793"/>
          </a:xfrm>
          <a:custGeom>
            <a:avLst/>
            <a:gdLst>
              <a:gd name="connsiteX0" fmla="*/ 0 w 3755264"/>
              <a:gd name="connsiteY0" fmla="*/ 0 h 869439"/>
              <a:gd name="connsiteX1" fmla="*/ 3755264 w 3755264"/>
              <a:gd name="connsiteY1" fmla="*/ 0 h 869439"/>
              <a:gd name="connsiteX2" fmla="*/ 3755264 w 3755264"/>
              <a:gd name="connsiteY2" fmla="*/ 869439 h 869439"/>
              <a:gd name="connsiteX3" fmla="*/ 0 w 3755264"/>
              <a:gd name="connsiteY3" fmla="*/ 869439 h 86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5264" h="869439">
                <a:moveTo>
                  <a:pt x="0" y="0"/>
                </a:moveTo>
                <a:lnTo>
                  <a:pt x="3755264" y="0"/>
                </a:lnTo>
                <a:lnTo>
                  <a:pt x="3755264" y="869439"/>
                </a:lnTo>
                <a:lnTo>
                  <a:pt x="0" y="869439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9F58CB-4E7D-76FC-CCE7-77896CFE59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985256" y="0"/>
            <a:ext cx="1841717" cy="44970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BB046E-D414-D96E-751D-AEF194C8F07C}"/>
              </a:ext>
            </a:extLst>
          </p:cNvPr>
          <p:cNvSpPr/>
          <p:nvPr userDrawn="1"/>
        </p:nvSpPr>
        <p:spPr>
          <a:xfrm>
            <a:off x="3160809" y="2801073"/>
            <a:ext cx="8826752" cy="24087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Select Cloud Business Transformations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A4D57F7-20FD-B94C-0DC3-9F2D97D12FB3}"/>
              </a:ext>
            </a:extLst>
          </p:cNvPr>
          <p:cNvSpPr/>
          <p:nvPr userDrawn="1"/>
        </p:nvSpPr>
        <p:spPr>
          <a:xfrm>
            <a:off x="244292" y="3787276"/>
            <a:ext cx="2349472" cy="247922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Industry Experience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80AAD4-9367-2392-70C7-29955711C823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541FE0-B135-00DD-806A-53397E879B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E7C6BB0-FF44-7B7A-C29C-293D865DD57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BBFA4EC-78E1-7F98-CE0E-3349FD252F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2100" y="3122744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Global Financial Services Company</a:t>
            </a:r>
          </a:p>
          <a:p>
            <a:r>
              <a:rPr lang="en-US" sz="900" dirty="0"/>
              <a:t>Delivered multiple Salesforce solutions across the enterprise, including Asset Management, Treasury Services, and Investment Bank.</a:t>
            </a:r>
          </a:p>
          <a:p>
            <a:r>
              <a:rPr lang="en-US" sz="900" dirty="0"/>
              <a:t>Helped implement and operate the governance model for executing each of the programs.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003707-CB68-74A3-6C38-E689D26FE3E7}"/>
              </a:ext>
            </a:extLst>
          </p:cNvPr>
          <p:cNvSpPr/>
          <p:nvPr userDrawn="1"/>
        </p:nvSpPr>
        <p:spPr>
          <a:xfrm>
            <a:off x="216985" y="4974430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Certifications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F6D47A8-122C-2DF5-CFC1-EEEC156A96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8220" y="5312740"/>
            <a:ext cx="2154283" cy="1428042"/>
          </a:xfrm>
          <a:prstGeom prst="rect">
            <a:avLst/>
          </a:prstGeom>
        </p:spPr>
        <p:txBody>
          <a:bodyPr lIns="0" tIns="0" rIns="0" bIns="0"/>
          <a:lstStyle>
            <a:lvl1pPr marL="2286" indent="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Certifications separated by commas</a:t>
            </a:r>
          </a:p>
          <a:p>
            <a:pPr lvl="0"/>
            <a:endParaRPr lang="en-US" dirty="0"/>
          </a:p>
        </p:txBody>
      </p:sp>
      <p:pic>
        <p:nvPicPr>
          <p:cNvPr id="25" name="Oracle Logo" descr="Oracle Logo">
            <a:extLst>
              <a:ext uri="{FF2B5EF4-FFF2-40B4-BE49-F238E27FC236}">
                <a16:creationId xmlns:a16="http://schemas.microsoft.com/office/drawing/2014/main" id="{B6979680-BCF5-7AD8-8D2C-AF6FE9E71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invGray">
          <a:xfrm>
            <a:off x="271226" y="117218"/>
            <a:ext cx="2142712" cy="4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4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44" userDrawn="1">
          <p15:clr>
            <a:srgbClr val="FBAE40"/>
          </p15:clr>
        </p15:guide>
        <p15:guide id="2" pos="2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Instruc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5EA2D-CF9D-025D-860F-40B5F14C8AB1}"/>
              </a:ext>
            </a:extLst>
          </p:cNvPr>
          <p:cNvSpPr/>
          <p:nvPr userDrawn="1"/>
        </p:nvSpPr>
        <p:spPr bwMode="gray">
          <a:xfrm>
            <a:off x="7985421" y="1"/>
            <a:ext cx="42037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bg1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DEA99745-637D-BA65-749F-B8AE14A0D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B775DCAC-BF18-2D9B-7450-96BAF91A7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E0D73B-1D78-F857-3986-822085FF4AB2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5296B5-6D43-3679-6A62-73CF39AEF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4A1CC7F-162D-FDCB-4734-733FA37D9864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525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AA765439-2A72-83D4-9BD1-E78F9046D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BA44742-2ED9-13E8-4CD0-EE56B3868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BBF0F4-EE32-5AFA-992F-2019EFA5A41C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FD70F1-FA8C-5421-B9FF-8778DB83F33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C0A5CBB-880C-6F12-CB5D-36C468FE8DA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29849E1-582A-59B3-A380-5C288ED46A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C1AF6-3ACD-7AF8-7072-F9F3651BF4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3" r:id="rId1"/>
    <p:sldLayoutId id="21474845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288" userDrawn="1">
          <p15:clr>
            <a:srgbClr val="F26B43"/>
          </p15:clr>
        </p15:guide>
        <p15:guide id="8" pos="7368" userDrawn="1">
          <p15:clr>
            <a:srgbClr val="F26B43"/>
          </p15:clr>
        </p15:guide>
        <p15:guide id="9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oracle.com/ai-and-datascience/gpu-accelerated-ai-camera-analytics-on-oci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2AA9F-E2B2-ED95-64A4-6ADE792C23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Associate Consultant working on AI Pod Staffing, a Next.js and Oracle application for staffing requests and AI-assisted POD recommendations.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CA296-113B-F977-1554-ACE169B3FD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AI Pod Staffing connects staffing requests with skills, availability and capacity</a:t>
            </a:r>
            <a:endParaRPr lang="en-US" dirty="0"/>
          </a:p>
          <a:p>
            <a:r>
              <a:rPr lang="en-US"/>
              <a:t>A Supervisor and two OCI Generative AI agents prepare POD options for Captain review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85FAB-4EA1-D205-709A-A294F9FC4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Shamish Chandra Maikoti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A72C7-78DE-59BD-5F93-637AB4CB37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Associate Consultant</a:t>
            </a:r>
            <a:endParaRPr lang="en-US" dirty="0"/>
          </a:p>
        </p:txBody>
      </p:sp>
      <p:sp>
        <p:nvSpPr>
          <p:cNvPr id="6" name="Text Placeholder 5">
            <a:hlinkClick r:id="rId2"/>
            <a:extLst>
              <a:ext uri="{FF2B5EF4-FFF2-40B4-BE49-F238E27FC236}">
                <a16:creationId xmlns:a16="http://schemas.microsoft.com/office/drawing/2014/main" id="{F32CB1FB-C5E3-02DE-C7D3-8E0854B6CFF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b="1"/>
              <a:t>AI Camera Analytics on OCI</a:t>
            </a:r>
          </a:p>
          <a:p>
            <a:r>
              <a:rPr lang="en-US"/>
              <a:t>1. Project Intern, 28 Jan–17 Jul 2026; contributed to an OCI GPU camera analytics proof of concept</a:t>
            </a:r>
          </a:p>
          <a:p>
            <a:r>
              <a:rPr lang="en-US"/>
              <a:t>2. Used Python, PyTorch, CUDA, RT-DETR and CLIP for detection and contextual classification</a:t>
            </a:r>
          </a:p>
          <a:p>
            <a:r>
              <a:rPr lang="en-US"/>
              <a:t>3. Used OCI Queue between CPU stream processing and GPU inference; supported role, zone, time and confidence rules</a:t>
            </a:r>
          </a:p>
          <a:p>
            <a:r>
              <a:rPr lang="en-US"/>
              <a:t>4. Documented the architecture and co-authored the Oracle AI &amp; Data Science blog (7 Jul 2026)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D7EF35-4D95-5DB1-A17E-C585689E56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C6BBBC-35A3-644A-5119-9731E755C80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/>
              <a:t>Next.js, React, TypeScript</a:t>
            </a:r>
          </a:p>
          <a:p>
            <a:r>
              <a:rPr lang="it-IT"/>
              <a:t>Python</a:t>
            </a:r>
          </a:p>
          <a:p>
            <a:r>
              <a:rPr lang="it-IT"/>
              <a:t>Oracle AI Database 26ai</a:t>
            </a:r>
          </a:p>
          <a:p>
            <a:r>
              <a:rPr lang="it-IT"/>
              <a:t>OCI Generative AI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598C00-B62F-7A70-CCAF-BA6554675C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80592A-B1D4-00BF-2145-C29E0B1CF92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b="1"/>
              <a:t>AI Pod Staffing</a:t>
            </a:r>
          </a:p>
          <a:p>
            <a:r>
              <a:rPr lang="en-US"/>
              <a:t>1. Captains submit requests with dates, effort, deliverables, required skills and team size</a:t>
            </a:r>
          </a:p>
          <a:p>
            <a:r>
              <a:rPr lang="en-US"/>
              <a:t>2. Rules check role, skill evidence, availability, capacity and capability coverage</a:t>
            </a:r>
          </a:p>
          <a:p>
            <a:r>
              <a:rPr lang="en-US"/>
              <a:t>3. A Supervisor coordinates Analyst and Planner agents around validated POD options</a:t>
            </a:r>
          </a:p>
          <a:p>
            <a:r>
              <a:rPr lang="en-US"/>
              <a:t>4. Captains compare alternatives, choose an exact POD, then approve or reject assignments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E5904C-6D8A-8874-36C3-564F16B51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CBFA45-6F06-A45A-C68B-42C0B0DCC9F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AC FY24 2.0 Template">
  <a:themeElements>
    <a:clrScheme name="FY24">
      <a:dk1>
        <a:srgbClr val="312D2A"/>
      </a:dk1>
      <a:lt1>
        <a:srgbClr val="FFFFFF"/>
      </a:lt1>
      <a:dk2>
        <a:srgbClr val="1D3A4B"/>
      </a:dk2>
      <a:lt2>
        <a:srgbClr val="FFFFFF"/>
      </a:lt2>
      <a:accent1>
        <a:srgbClr val="C96C4F"/>
      </a:accent1>
      <a:accent2>
        <a:srgbClr val="76A2A0"/>
      </a:accent2>
      <a:accent3>
        <a:srgbClr val="F9BA69"/>
      </a:accent3>
      <a:accent4>
        <a:srgbClr val="8E5C67"/>
      </a:accent4>
      <a:accent5>
        <a:srgbClr val="445A5C"/>
      </a:accent5>
      <a:accent6>
        <a:srgbClr val="9AA891"/>
      </a:accent6>
      <a:hlink>
        <a:srgbClr val="BE8C6C"/>
      </a:hlink>
      <a:folHlink>
        <a:srgbClr val="CE7A75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C596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NAA Template" id="{C00FE5C2-72C7-7A46-B96B-6C5ED235F891}" vid="{7C133F9B-89BC-5241-94EF-326C888391D6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82933</TotalTime>
  <Words>218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Aptos</vt:lpstr>
      <vt:lpstr>Arial</vt:lpstr>
      <vt:lpstr>Georgia</vt:lpstr>
      <vt:lpstr>Oracle Sans</vt:lpstr>
      <vt:lpstr>Oracle Sans Light</vt:lpstr>
      <vt:lpstr>Oracle Sans Semi Bold</vt:lpstr>
      <vt:lpstr>Oracle Sans Tab</vt:lpstr>
      <vt:lpstr>Oracle Sans Tab Light</vt:lpstr>
      <vt:lpstr>Oracle Sans Ultra Light</vt:lpstr>
      <vt:lpstr>System Font Regular</vt:lpstr>
      <vt:lpstr>NAAC FY24 2.0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 Chausovsky</dc:creator>
  <cp:lastModifiedBy>Shamish Chandra Maikoti</cp:lastModifiedBy>
  <cp:revision>1494</cp:revision>
  <dcterms:created xsi:type="dcterms:W3CDTF">2022-06-03T13:25:02Z</dcterms:created>
  <dcterms:modified xsi:type="dcterms:W3CDTF">2026-10-08T06:50:27Z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lassificationContentMarkingFooterLocations">
    <vt:lpwstr>NAAC FY24 2.0 Template:7</vt:lpwstr>
  </property>
  <property fmtid="{D5CDD505-2E9C-101B-9397-08002B2CF9AE}" pid="6" name="ClassificationContentMarkingFooterText">
    <vt:lpwstr>Confidential - Oracle Restricted \Employees Only</vt:lpwstr>
  </property>
  <property fmtid="{D5CDD505-2E9C-101B-9397-08002B2CF9AE}" pid="7" name="ClassificationContentMarkingHeaderLocations">
    <vt:lpwstr>NAAC FY24 2.0 Template:5</vt:lpwstr>
  </property>
  <property fmtid="{D5CDD505-2E9C-101B-9397-08002B2CF9AE}" pid="8" name="ClassificationContentMarkingHeaderText">
    <vt:lpwstr>Confidential - Oracle Restricted \Employees Only</vt:lpwstr>
  </property>
</Properties>
</file>